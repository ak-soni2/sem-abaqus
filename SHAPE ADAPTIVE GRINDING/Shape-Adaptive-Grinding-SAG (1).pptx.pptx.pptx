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aira Bold" charset="1" panose="00000800000000000000"/>
      <p:regular r:id="rId18"/>
    </p:embeddedFont>
    <p:embeddedFont>
      <p:font typeface="Roboto" charset="1" panose="02000000000000000000"/>
      <p:regular r:id="rId20"/>
    </p:embeddedFont>
    <p:embeddedFont>
      <p:font typeface="Roboto Bold" charset="1" panose="02000000000000000000"/>
      <p:regular r:id="rId21"/>
    </p:embeddedFont>
    <p:embeddedFont>
      <p:font typeface="Saira Light" charset="1" panose="00000400000000000000"/>
      <p:regular r:id="rId25"/>
    </p:embeddedFont>
    <p:embeddedFont>
      <p:font typeface="Roboto Italics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pn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713" y="6150921"/>
            <a:ext cx="6770370" cy="589979"/>
          </a:xfrm>
          <a:custGeom>
            <a:avLst/>
            <a:gdLst/>
            <a:ahLst/>
            <a:cxnLst/>
            <a:rect r="r" b="b" t="t" l="l"/>
            <a:pathLst>
              <a:path h="589979" w="6770370">
                <a:moveTo>
                  <a:pt x="0" y="0"/>
                </a:moveTo>
                <a:lnTo>
                  <a:pt x="6770370" y="0"/>
                </a:lnTo>
                <a:lnTo>
                  <a:pt x="6770370" y="589979"/>
                </a:lnTo>
                <a:lnTo>
                  <a:pt x="0" y="58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96366" cy="10287000"/>
            <a:chOff x="0" y="0"/>
            <a:chExt cx="2452848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2852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528526">
                  <a:moveTo>
                    <a:pt x="0" y="0"/>
                  </a:moveTo>
                  <a:lnTo>
                    <a:pt x="24528526" y="0"/>
                  </a:lnTo>
                  <a:lnTo>
                    <a:pt x="2452852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631" t="0" r="-1563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22433" y="-76200"/>
            <a:ext cx="14050413" cy="129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4"/>
              </a:lnSpc>
            </a:pPr>
            <a:r>
              <a:rPr lang="en-US" sz="7686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Shape Adaptive Grinding (SAG)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t="0" r="-8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407" t="0" r="-1240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4668" y="994324"/>
            <a:ext cx="1688116" cy="422148"/>
            <a:chOff x="0" y="0"/>
            <a:chExt cx="2250821" cy="5628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0821" cy="562864"/>
            </a:xfrm>
            <a:custGeom>
              <a:avLst/>
              <a:gdLst/>
              <a:ahLst/>
              <a:cxnLst/>
              <a:rect r="r" b="b" t="t" l="l"/>
              <a:pathLst>
                <a:path h="562864" w="2250821">
                  <a:moveTo>
                    <a:pt x="0" y="228219"/>
                  </a:moveTo>
                  <a:cubicBezTo>
                    <a:pt x="0" y="102235"/>
                    <a:pt x="102235" y="0"/>
                    <a:pt x="228219" y="0"/>
                  </a:cubicBezTo>
                  <a:lnTo>
                    <a:pt x="2022602" y="0"/>
                  </a:lnTo>
                  <a:cubicBezTo>
                    <a:pt x="2148713" y="0"/>
                    <a:pt x="2250821" y="102235"/>
                    <a:pt x="2250821" y="228219"/>
                  </a:cubicBezTo>
                  <a:lnTo>
                    <a:pt x="2250821" y="334645"/>
                  </a:lnTo>
                  <a:cubicBezTo>
                    <a:pt x="2250821" y="460756"/>
                    <a:pt x="2148586" y="562864"/>
                    <a:pt x="2022602" y="562864"/>
                  </a:cubicBezTo>
                  <a:lnTo>
                    <a:pt x="228219" y="562864"/>
                  </a:lnTo>
                  <a:cubicBezTo>
                    <a:pt x="102235" y="562991"/>
                    <a:pt x="0" y="460756"/>
                    <a:pt x="0" y="334645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067248" y="1110253"/>
            <a:ext cx="190205" cy="190205"/>
          </a:xfrm>
          <a:custGeom>
            <a:avLst/>
            <a:gdLst/>
            <a:ahLst/>
            <a:cxnLst/>
            <a:rect r="r" b="b" t="t" l="l"/>
            <a:pathLst>
              <a:path h="190205" w="190205">
                <a:moveTo>
                  <a:pt x="0" y="0"/>
                </a:moveTo>
                <a:lnTo>
                  <a:pt x="190204" y="0"/>
                </a:lnTo>
                <a:lnTo>
                  <a:pt x="190204" y="190205"/>
                </a:lnTo>
                <a:lnTo>
                  <a:pt x="0" y="190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501" t="0" r="-749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52550" y="970359"/>
            <a:ext cx="1117702" cy="37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143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MOTIVATION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4668" y="1439018"/>
            <a:ext cx="95806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Why SAG? — The Problem with Conventional Grinding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4668" y="3147717"/>
            <a:ext cx="9580664" cy="83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12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Core Idea:</a:t>
            </a: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Conventional grinding is too aggressive for advanced materials and complex shapes.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0380" y="4190552"/>
            <a:ext cx="4719161" cy="2472785"/>
          </a:xfrm>
          <a:custGeom>
            <a:avLst/>
            <a:gdLst/>
            <a:ahLst/>
            <a:cxnLst/>
            <a:rect r="r" b="b" t="t" l="l"/>
            <a:pathLst>
              <a:path h="2472785" w="4719161">
                <a:moveTo>
                  <a:pt x="0" y="0"/>
                </a:moveTo>
                <a:lnTo>
                  <a:pt x="4719162" y="0"/>
                </a:lnTo>
                <a:lnTo>
                  <a:pt x="4719162" y="2472786"/>
                </a:lnTo>
                <a:lnTo>
                  <a:pt x="0" y="24727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0920" y="4471092"/>
            <a:ext cx="29722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High Contact Forces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920" y="4828727"/>
            <a:ext cx="4158110" cy="118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Large rigid wheel creates concentrated force → stress concentrations on workpiece surface.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800277" y="4190552"/>
            <a:ext cx="4719256" cy="2472785"/>
          </a:xfrm>
          <a:custGeom>
            <a:avLst/>
            <a:gdLst/>
            <a:ahLst/>
            <a:cxnLst/>
            <a:rect r="r" b="b" t="t" l="l"/>
            <a:pathLst>
              <a:path h="2472785" w="4719256">
                <a:moveTo>
                  <a:pt x="0" y="0"/>
                </a:moveTo>
                <a:lnTo>
                  <a:pt x="4719257" y="0"/>
                </a:lnTo>
                <a:lnTo>
                  <a:pt x="4719257" y="2472786"/>
                </a:lnTo>
                <a:lnTo>
                  <a:pt x="0" y="24727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080817" y="4471092"/>
            <a:ext cx="415825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Surface &amp; Subsurface Damage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80817" y="5200202"/>
            <a:ext cx="4158253" cy="118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Brittle materials (ceramics, coatings) fracture instead of deforming → cracks, chipping, residual stress.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0380" y="6834035"/>
            <a:ext cx="4719161" cy="2472785"/>
          </a:xfrm>
          <a:custGeom>
            <a:avLst/>
            <a:gdLst/>
            <a:ahLst/>
            <a:cxnLst/>
            <a:rect r="r" b="b" t="t" l="l"/>
            <a:pathLst>
              <a:path h="2472785" w="4719161">
                <a:moveTo>
                  <a:pt x="0" y="0"/>
                </a:moveTo>
                <a:lnTo>
                  <a:pt x="4719162" y="0"/>
                </a:lnTo>
                <a:lnTo>
                  <a:pt x="4719162" y="2472785"/>
                </a:lnTo>
                <a:lnTo>
                  <a:pt x="0" y="24727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90920" y="7114584"/>
            <a:ext cx="415811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Freeform Surfaces Unsupported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0920" y="7843685"/>
            <a:ext cx="4158110" cy="118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Rigid tools cannot conform to curved or complex geometries → uneven material removal.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800277" y="6834035"/>
            <a:ext cx="4719256" cy="2472785"/>
          </a:xfrm>
          <a:custGeom>
            <a:avLst/>
            <a:gdLst/>
            <a:ahLst/>
            <a:cxnLst/>
            <a:rect r="r" b="b" t="t" l="l"/>
            <a:pathLst>
              <a:path h="2472785" w="4719256">
                <a:moveTo>
                  <a:pt x="0" y="0"/>
                </a:moveTo>
                <a:lnTo>
                  <a:pt x="4719257" y="0"/>
                </a:lnTo>
                <a:lnTo>
                  <a:pt x="4719257" y="2472785"/>
                </a:lnTo>
                <a:lnTo>
                  <a:pt x="0" y="24727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080817" y="7114584"/>
            <a:ext cx="354136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Nano-finish Unachievable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80817" y="7472210"/>
            <a:ext cx="4158253" cy="15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Achieving Ra &lt; 50 nm with rigid abrasives requires extreme process control — often impossible on hard materials.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071715"/>
            <a:ext cx="1614964" cy="497396"/>
            <a:chOff x="0" y="0"/>
            <a:chExt cx="2153285" cy="6631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3285" cy="663194"/>
            </a:xfrm>
            <a:custGeom>
              <a:avLst/>
              <a:gdLst/>
              <a:ahLst/>
              <a:cxnLst/>
              <a:rect r="r" b="b" t="t" l="l"/>
              <a:pathLst>
                <a:path h="663194" w="2153285">
                  <a:moveTo>
                    <a:pt x="0" y="258572"/>
                  </a:moveTo>
                  <a:cubicBezTo>
                    <a:pt x="0" y="115824"/>
                    <a:pt x="115824" y="0"/>
                    <a:pt x="258572" y="0"/>
                  </a:cubicBezTo>
                  <a:lnTo>
                    <a:pt x="1894713" y="0"/>
                  </a:lnTo>
                  <a:cubicBezTo>
                    <a:pt x="2037461" y="0"/>
                    <a:pt x="2153285" y="115824"/>
                    <a:pt x="2153285" y="258572"/>
                  </a:cubicBezTo>
                  <a:lnTo>
                    <a:pt x="2153285" y="404622"/>
                  </a:lnTo>
                  <a:cubicBezTo>
                    <a:pt x="2153285" y="547370"/>
                    <a:pt x="2037461" y="663194"/>
                    <a:pt x="1894713" y="663194"/>
                  </a:cubicBezTo>
                  <a:lnTo>
                    <a:pt x="258572" y="663194"/>
                  </a:lnTo>
                  <a:cubicBezTo>
                    <a:pt x="115824" y="663194"/>
                    <a:pt x="0" y="547370"/>
                    <a:pt x="0" y="404622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53716" y="1212647"/>
            <a:ext cx="215351" cy="215351"/>
          </a:xfrm>
          <a:custGeom>
            <a:avLst/>
            <a:gdLst/>
            <a:ahLst/>
            <a:cxnLst/>
            <a:rect r="r" b="b" t="t" l="l"/>
            <a:pathLst>
              <a:path h="215351" w="215351">
                <a:moveTo>
                  <a:pt x="0" y="0"/>
                </a:moveTo>
                <a:lnTo>
                  <a:pt x="215350" y="0"/>
                </a:lnTo>
                <a:lnTo>
                  <a:pt x="215350" y="215351"/>
                </a:lnTo>
                <a:lnTo>
                  <a:pt x="0" y="215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67" r="0" b="-195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76670" y="1019023"/>
            <a:ext cx="969016" cy="46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614192"/>
            <a:ext cx="10617251" cy="89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5250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What is Shape Adaptive Grinding?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744543"/>
            <a:ext cx="16303523" cy="57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1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Core Idea:</a:t>
            </a: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"SAG combines grinding precision with polishing flexibility — the tool adapts to the workpiece, not the other way around."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822649"/>
            <a:ext cx="3366935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625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Definition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384919"/>
            <a:ext cx="7823149" cy="38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07" indent="-134769" lvl="2">
              <a:lnSpc>
                <a:spcPts val="3248"/>
              </a:lnSpc>
              <a:buFont typeface="Arial"/>
              <a:buChar char="⚬"/>
            </a:pP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b="true" sz="206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compliant (flexible) abrasive finishing</a:t>
            </a: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process</a:t>
            </a:r>
          </a:p>
          <a:p>
            <a:pPr algn="l" marL="404307" indent="-134769" lvl="2">
              <a:lnSpc>
                <a:spcPts val="3248"/>
              </a:lnSpc>
              <a:buFont typeface="Arial"/>
              <a:buChar char="⚬"/>
            </a:pP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The grinding tool </a:t>
            </a:r>
            <a:r>
              <a:rPr lang="en-US" b="true" sz="206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deforms under load</a:t>
            </a: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to match the workpiece surface geometry</a:t>
            </a:r>
          </a:p>
          <a:p>
            <a:pPr algn="l" marL="404307" indent="-134769" lvl="2">
              <a:lnSpc>
                <a:spcPts val="3248"/>
              </a:lnSpc>
              <a:buFont typeface="Arial"/>
              <a:buChar char="⚬"/>
            </a:pP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Creates </a:t>
            </a:r>
            <a:r>
              <a:rPr lang="en-US" b="true" sz="206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area contact</a:t>
            </a: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instead of line or point contact</a:t>
            </a:r>
          </a:p>
          <a:p>
            <a:pPr algn="l" marL="404307" indent="-134769" lvl="2">
              <a:lnSpc>
                <a:spcPts val="3248"/>
              </a:lnSpc>
              <a:buFont typeface="Arial"/>
              <a:buChar char="⚬"/>
            </a:pP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Forces are distributed across </a:t>
            </a:r>
            <a:r>
              <a:rPr lang="en-US" b="true" sz="206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many abrasive grains simultaneously</a:t>
            </a:r>
          </a:p>
          <a:p>
            <a:pPr algn="l" marL="404307" indent="-134769" lvl="2">
              <a:lnSpc>
                <a:spcPts val="3248"/>
              </a:lnSpc>
              <a:buFont typeface="Arial"/>
              <a:buChar char="⚬"/>
            </a:pPr>
            <a:r>
              <a:rPr lang="en-US" sz="206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Bridges the gap between grinding (material removal) and polishing (surface quality)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8066" y="3604917"/>
            <a:ext cx="8211217" cy="5610320"/>
            <a:chOff x="0" y="0"/>
            <a:chExt cx="10948289" cy="74804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48289" cy="7480427"/>
            </a:xfrm>
            <a:custGeom>
              <a:avLst/>
              <a:gdLst/>
              <a:ahLst/>
              <a:cxnLst/>
              <a:rect r="r" b="b" t="t" l="l"/>
              <a:pathLst>
                <a:path h="7480427" w="10948289">
                  <a:moveTo>
                    <a:pt x="0" y="517144"/>
                  </a:moveTo>
                  <a:cubicBezTo>
                    <a:pt x="0" y="231521"/>
                    <a:pt x="231521" y="0"/>
                    <a:pt x="517144" y="0"/>
                  </a:cubicBezTo>
                  <a:lnTo>
                    <a:pt x="10431145" y="0"/>
                  </a:lnTo>
                  <a:cubicBezTo>
                    <a:pt x="10716768" y="0"/>
                    <a:pt x="10948289" y="231521"/>
                    <a:pt x="10948289" y="517144"/>
                  </a:cubicBezTo>
                  <a:lnTo>
                    <a:pt x="10948289" y="6963283"/>
                  </a:lnTo>
                  <a:cubicBezTo>
                    <a:pt x="10948289" y="7248906"/>
                    <a:pt x="10716768" y="7480427"/>
                    <a:pt x="10431145" y="7480427"/>
                  </a:cubicBezTo>
                  <a:lnTo>
                    <a:pt x="517144" y="7480427"/>
                  </a:lnTo>
                  <a:cubicBezTo>
                    <a:pt x="231521" y="7480554"/>
                    <a:pt x="0" y="7248906"/>
                    <a:pt x="0" y="6963283"/>
                  </a:cubicBezTo>
                  <a:close/>
                </a:path>
              </a:pathLst>
            </a:custGeom>
            <a:solidFill>
              <a:srgbClr val="FEE501">
                <a:alpha val="31373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57299" y="3822649"/>
            <a:ext cx="3366935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625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Key Distinction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57299" y="4384919"/>
            <a:ext cx="7672835" cy="9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1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Conventional Grinding:</a:t>
            </a:r>
            <a:r>
              <a:rPr lang="en-US" sz="20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Rigid wheel → fixed geometry → line contact → high local force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57299" y="5800049"/>
            <a:ext cx="7672864" cy="43148"/>
            <a:chOff x="0" y="0"/>
            <a:chExt cx="10230485" cy="575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30485" cy="57531"/>
            </a:xfrm>
            <a:custGeom>
              <a:avLst/>
              <a:gdLst/>
              <a:ahLst/>
              <a:cxnLst/>
              <a:rect r="r" b="b" t="t" l="l"/>
              <a:pathLst>
                <a:path h="57531" w="10230485">
                  <a:moveTo>
                    <a:pt x="0" y="0"/>
                  </a:moveTo>
                  <a:lnTo>
                    <a:pt x="10230485" y="0"/>
                  </a:lnTo>
                  <a:lnTo>
                    <a:pt x="10230485" y="57531"/>
                  </a:lnTo>
                  <a:lnTo>
                    <a:pt x="0" y="57531"/>
                  </a:lnTo>
                  <a:close/>
                </a:path>
              </a:pathLst>
            </a:custGeom>
            <a:solidFill>
              <a:srgbClr val="000000">
                <a:alpha val="5882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557299" y="5978576"/>
            <a:ext cx="7672835" cy="141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1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Shape Adaptive Grinding:</a:t>
            </a:r>
            <a:r>
              <a:rPr lang="en-US" sz="20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Flexible tool → conforms to surface → area contact → distributed low force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57299" y="7813843"/>
            <a:ext cx="7672864" cy="43148"/>
            <a:chOff x="0" y="0"/>
            <a:chExt cx="10230485" cy="575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30485" cy="57531"/>
            </a:xfrm>
            <a:custGeom>
              <a:avLst/>
              <a:gdLst/>
              <a:ahLst/>
              <a:cxnLst/>
              <a:rect r="r" b="b" t="t" l="l"/>
              <a:pathLst>
                <a:path h="57531" w="10230485">
                  <a:moveTo>
                    <a:pt x="0" y="0"/>
                  </a:moveTo>
                  <a:lnTo>
                    <a:pt x="10230485" y="0"/>
                  </a:lnTo>
                  <a:lnTo>
                    <a:pt x="10230485" y="57531"/>
                  </a:lnTo>
                  <a:lnTo>
                    <a:pt x="0" y="57531"/>
                  </a:lnTo>
                  <a:close/>
                </a:path>
              </a:pathLst>
            </a:custGeom>
            <a:solidFill>
              <a:srgbClr val="000000">
                <a:alpha val="5882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57299" y="7992370"/>
            <a:ext cx="7672835" cy="9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0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Result: </a:t>
            </a:r>
            <a:r>
              <a:rPr lang="en-US" sz="2061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Gentle, uniform material removal</a:t>
            </a:r>
            <a:r>
              <a:rPr lang="en-US" sz="20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across the entire contact zone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7585" y="816921"/>
            <a:ext cx="1798320" cy="436054"/>
            <a:chOff x="0" y="0"/>
            <a:chExt cx="2397760" cy="581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97760" cy="581406"/>
            </a:xfrm>
            <a:custGeom>
              <a:avLst/>
              <a:gdLst/>
              <a:ahLst/>
              <a:cxnLst/>
              <a:rect r="r" b="b" t="t" l="l"/>
              <a:pathLst>
                <a:path h="581406" w="2397760">
                  <a:moveTo>
                    <a:pt x="0" y="233934"/>
                  </a:moveTo>
                  <a:cubicBezTo>
                    <a:pt x="0" y="104775"/>
                    <a:pt x="104775" y="0"/>
                    <a:pt x="233934" y="0"/>
                  </a:cubicBezTo>
                  <a:lnTo>
                    <a:pt x="2163826" y="0"/>
                  </a:lnTo>
                  <a:cubicBezTo>
                    <a:pt x="2292985" y="0"/>
                    <a:pt x="2397760" y="104775"/>
                    <a:pt x="2397760" y="233934"/>
                  </a:cubicBezTo>
                  <a:lnTo>
                    <a:pt x="2397760" y="347472"/>
                  </a:lnTo>
                  <a:cubicBezTo>
                    <a:pt x="2397760" y="476631"/>
                    <a:pt x="2292985" y="581406"/>
                    <a:pt x="2163826" y="581406"/>
                  </a:cubicBezTo>
                  <a:lnTo>
                    <a:pt x="233934" y="581406"/>
                  </a:lnTo>
                  <a:cubicBezTo>
                    <a:pt x="104775" y="581406"/>
                    <a:pt x="0" y="476631"/>
                    <a:pt x="0" y="347472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093737" y="937470"/>
            <a:ext cx="194815" cy="194815"/>
          </a:xfrm>
          <a:custGeom>
            <a:avLst/>
            <a:gdLst/>
            <a:ahLst/>
            <a:cxnLst/>
            <a:rect r="r" b="b" t="t" l="l"/>
            <a:pathLst>
              <a:path h="194815" w="194815">
                <a:moveTo>
                  <a:pt x="0" y="0"/>
                </a:moveTo>
                <a:lnTo>
                  <a:pt x="194815" y="0"/>
                </a:lnTo>
                <a:lnTo>
                  <a:pt x="194815" y="194814"/>
                </a:lnTo>
                <a:lnTo>
                  <a:pt x="0" y="194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81" t="0" r="-238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5516" y="848754"/>
            <a:ext cx="1213847" cy="40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5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TOOL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585" y="1279474"/>
            <a:ext cx="9959130" cy="81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4749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Tool Structure &amp; Contact Mechanics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585" y="2602411"/>
            <a:ext cx="3607146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Layered Tool Architecture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3298" y="3223470"/>
            <a:ext cx="7078408" cy="1887855"/>
          </a:xfrm>
          <a:custGeom>
            <a:avLst/>
            <a:gdLst/>
            <a:ahLst/>
            <a:cxnLst/>
            <a:rect r="r" b="b" t="t" l="l"/>
            <a:pathLst>
              <a:path h="1887855" w="7078408">
                <a:moveTo>
                  <a:pt x="0" y="0"/>
                </a:moveTo>
                <a:lnTo>
                  <a:pt x="7078408" y="0"/>
                </a:lnTo>
                <a:lnTo>
                  <a:pt x="7078408" y="1887855"/>
                </a:lnTo>
                <a:lnTo>
                  <a:pt x="0" y="1887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19010" y="3237757"/>
            <a:ext cx="114300" cy="1859280"/>
            <a:chOff x="0" y="0"/>
            <a:chExt cx="152400" cy="2479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479040"/>
            </a:xfrm>
            <a:custGeom>
              <a:avLst/>
              <a:gdLst/>
              <a:ahLst/>
              <a:cxnLst/>
              <a:rect r="r" b="b" t="t" l="l"/>
              <a:pathLst>
                <a:path h="247904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02840"/>
                  </a:lnTo>
                  <a:cubicBezTo>
                    <a:pt x="152400" y="2444877"/>
                    <a:pt x="118237" y="2479040"/>
                    <a:pt x="76200" y="2479040"/>
                  </a:cubicBezTo>
                  <a:cubicBezTo>
                    <a:pt x="34163" y="2479040"/>
                    <a:pt x="0" y="2444877"/>
                    <a:pt x="0" y="2402840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5516" y="3490913"/>
            <a:ext cx="3049934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① Base Wheel (Rigid)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5516" y="3966715"/>
            <a:ext cx="641969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Provides rotational drive and structural support. Transmits torque from spindle.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33298" y="5292176"/>
            <a:ext cx="7078408" cy="1887855"/>
          </a:xfrm>
          <a:custGeom>
            <a:avLst/>
            <a:gdLst/>
            <a:ahLst/>
            <a:cxnLst/>
            <a:rect r="r" b="b" t="t" l="l"/>
            <a:pathLst>
              <a:path h="1887855" w="7078408">
                <a:moveTo>
                  <a:pt x="0" y="0"/>
                </a:moveTo>
                <a:lnTo>
                  <a:pt x="7078408" y="0"/>
                </a:lnTo>
                <a:lnTo>
                  <a:pt x="7078408" y="1887855"/>
                </a:lnTo>
                <a:lnTo>
                  <a:pt x="0" y="1887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19010" y="5306463"/>
            <a:ext cx="114300" cy="1859280"/>
            <a:chOff x="0" y="0"/>
            <a:chExt cx="152400" cy="2479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2479040"/>
            </a:xfrm>
            <a:custGeom>
              <a:avLst/>
              <a:gdLst/>
              <a:ahLst/>
              <a:cxnLst/>
              <a:rect r="r" b="b" t="t" l="l"/>
              <a:pathLst>
                <a:path h="247904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02840"/>
                  </a:lnTo>
                  <a:cubicBezTo>
                    <a:pt x="152400" y="2444877"/>
                    <a:pt x="118237" y="2479040"/>
                    <a:pt x="76200" y="2479040"/>
                  </a:cubicBezTo>
                  <a:cubicBezTo>
                    <a:pt x="34163" y="2479040"/>
                    <a:pt x="0" y="2444877"/>
                    <a:pt x="0" y="2402840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05516" y="5559628"/>
            <a:ext cx="4366622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② Elastic Layer (Polyurethane)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5516" y="6035431"/>
            <a:ext cx="641969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The key to adaptability.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Compresses under load, allowing the tool to conform to workpiece curvature.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3298" y="7360891"/>
            <a:ext cx="7078408" cy="1887855"/>
          </a:xfrm>
          <a:custGeom>
            <a:avLst/>
            <a:gdLst/>
            <a:ahLst/>
            <a:cxnLst/>
            <a:rect r="r" b="b" t="t" l="l"/>
            <a:pathLst>
              <a:path h="1887855" w="7078408">
                <a:moveTo>
                  <a:pt x="0" y="0"/>
                </a:moveTo>
                <a:lnTo>
                  <a:pt x="7078408" y="0"/>
                </a:lnTo>
                <a:lnTo>
                  <a:pt x="7078408" y="1887855"/>
                </a:lnTo>
                <a:lnTo>
                  <a:pt x="0" y="1887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19010" y="7375179"/>
            <a:ext cx="114300" cy="1859280"/>
            <a:chOff x="0" y="0"/>
            <a:chExt cx="152400" cy="2479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2479040"/>
            </a:xfrm>
            <a:custGeom>
              <a:avLst/>
              <a:gdLst/>
              <a:ahLst/>
              <a:cxnLst/>
              <a:rect r="r" b="b" t="t" l="l"/>
              <a:pathLst>
                <a:path h="247904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02840"/>
                  </a:lnTo>
                  <a:cubicBezTo>
                    <a:pt x="152400" y="2444877"/>
                    <a:pt x="118237" y="2479040"/>
                    <a:pt x="76200" y="2479040"/>
                  </a:cubicBezTo>
                  <a:cubicBezTo>
                    <a:pt x="34163" y="2479040"/>
                    <a:pt x="0" y="2444877"/>
                    <a:pt x="0" y="2402840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05516" y="7628334"/>
            <a:ext cx="4644628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③ Abrasive Layer (Diamond Pad)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5516" y="8104137"/>
            <a:ext cx="641969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Fine diamond abrasives bonded to flexible backing. Directly contacts and removes material.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01370" y="2602411"/>
            <a:ext cx="4634951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How Contact Evolves Under Load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601370" y="3237757"/>
            <a:ext cx="1218343" cy="1802130"/>
            <a:chOff x="0" y="0"/>
            <a:chExt cx="1624457" cy="240284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624457" cy="2402840"/>
            </a:xfrm>
            <a:custGeom>
              <a:avLst/>
              <a:gdLst/>
              <a:ahLst/>
              <a:cxnLst/>
              <a:rect r="r" b="b" t="t" l="l"/>
              <a:pathLst>
                <a:path h="2402840" w="1624457">
                  <a:moveTo>
                    <a:pt x="0" y="0"/>
                  </a:moveTo>
                  <a:lnTo>
                    <a:pt x="1624457" y="0"/>
                  </a:lnTo>
                  <a:lnTo>
                    <a:pt x="162445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t="0" r="-174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029082" y="3462337"/>
            <a:ext cx="3853901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Initial Touch — Line 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29082" y="3938140"/>
            <a:ext cx="732085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Tool first touches workpiece at a single line. All force concentrated at one edge.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01370" y="5039916"/>
            <a:ext cx="1218343" cy="1802130"/>
            <a:chOff x="0" y="0"/>
            <a:chExt cx="1624457" cy="240284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624457" cy="2402840"/>
            </a:xfrm>
            <a:custGeom>
              <a:avLst/>
              <a:gdLst/>
              <a:ahLst/>
              <a:cxnLst/>
              <a:rect r="r" b="b" t="t" l="l"/>
              <a:pathLst>
                <a:path h="2402840" w="1624457">
                  <a:moveTo>
                    <a:pt x="0" y="0"/>
                  </a:moveTo>
                  <a:lnTo>
                    <a:pt x="1624457" y="0"/>
                  </a:lnTo>
                  <a:lnTo>
                    <a:pt x="162445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4" t="0" r="-174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029082" y="5264496"/>
            <a:ext cx="3045914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Elastic Compression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29082" y="5740298"/>
            <a:ext cx="732085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Polyurethane layer deforms inward. Contact zone begins to spread outward.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601370" y="6842074"/>
            <a:ext cx="1218343" cy="1802130"/>
            <a:chOff x="0" y="0"/>
            <a:chExt cx="1624457" cy="240284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624457" cy="2402840"/>
            </a:xfrm>
            <a:custGeom>
              <a:avLst/>
              <a:gdLst/>
              <a:ahLst/>
              <a:cxnLst/>
              <a:rect r="r" b="b" t="t" l="l"/>
              <a:pathLst>
                <a:path h="2402840" w="1624457">
                  <a:moveTo>
                    <a:pt x="0" y="0"/>
                  </a:moveTo>
                  <a:lnTo>
                    <a:pt x="1624457" y="0"/>
                  </a:lnTo>
                  <a:lnTo>
                    <a:pt x="1624457" y="2402840"/>
                  </a:lnTo>
                  <a:lnTo>
                    <a:pt x="0" y="2402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4" t="0" r="-174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029082" y="7066655"/>
            <a:ext cx="3070327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375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Elliptical Area Contact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29082" y="7542457"/>
            <a:ext cx="7320858" cy="8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874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Pressure is now distributed over an elliptical patch.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Highest at center, tapering at edges — like Hertzian contact, but compliant.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8411" y="-206809"/>
            <a:ext cx="17490237" cy="9838258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9912" y="796233"/>
            <a:ext cx="1481614" cy="354806"/>
            <a:chOff x="0" y="0"/>
            <a:chExt cx="1975485" cy="473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5485" cy="473075"/>
            </a:xfrm>
            <a:custGeom>
              <a:avLst/>
              <a:gdLst/>
              <a:ahLst/>
              <a:cxnLst/>
              <a:rect r="r" b="b" t="t" l="l"/>
              <a:pathLst>
                <a:path h="473075" w="1975485">
                  <a:moveTo>
                    <a:pt x="0" y="199517"/>
                  </a:moveTo>
                  <a:cubicBezTo>
                    <a:pt x="0" y="89281"/>
                    <a:pt x="89281" y="0"/>
                    <a:pt x="199517" y="0"/>
                  </a:cubicBezTo>
                  <a:lnTo>
                    <a:pt x="1775968" y="0"/>
                  </a:lnTo>
                  <a:cubicBezTo>
                    <a:pt x="1886204" y="0"/>
                    <a:pt x="1975485" y="89281"/>
                    <a:pt x="1975485" y="199517"/>
                  </a:cubicBezTo>
                  <a:lnTo>
                    <a:pt x="1975485" y="273558"/>
                  </a:lnTo>
                  <a:cubicBezTo>
                    <a:pt x="1975485" y="383794"/>
                    <a:pt x="1886204" y="473075"/>
                    <a:pt x="1775968" y="473075"/>
                  </a:cubicBezTo>
                  <a:lnTo>
                    <a:pt x="199517" y="473075"/>
                  </a:lnTo>
                  <a:cubicBezTo>
                    <a:pt x="89281" y="473075"/>
                    <a:pt x="0" y="383794"/>
                    <a:pt x="0" y="273558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094480" y="890435"/>
            <a:ext cx="166240" cy="166240"/>
          </a:xfrm>
          <a:custGeom>
            <a:avLst/>
            <a:gdLst/>
            <a:ahLst/>
            <a:cxnLst/>
            <a:rect r="r" b="b" t="t" l="l"/>
            <a:pathLst>
              <a:path h="166240" w="166240">
                <a:moveTo>
                  <a:pt x="0" y="0"/>
                </a:moveTo>
                <a:lnTo>
                  <a:pt x="166239" y="0"/>
                </a:lnTo>
                <a:lnTo>
                  <a:pt x="166239" y="166240"/>
                </a:lnTo>
                <a:lnTo>
                  <a:pt x="0" y="166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3768" y="782241"/>
            <a:ext cx="983161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248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MECHANISM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912" y="1173804"/>
            <a:ext cx="13960078" cy="6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sz="4061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Material Removal: Micro-Cutting &amp; Ductile vs. Brittle Mode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912" y="2203847"/>
            <a:ext cx="4540148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How Each Abrasive Removes Material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912" y="2680840"/>
            <a:ext cx="207759" cy="31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Saira Light"/>
                <a:ea typeface="Saira Light"/>
                <a:cs typeface="Saira Light"/>
                <a:sym typeface="Saira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9912" y="3062583"/>
            <a:ext cx="7920609" cy="28575"/>
            <a:chOff x="0" y="0"/>
            <a:chExt cx="10560812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60812" cy="38100"/>
            </a:xfrm>
            <a:custGeom>
              <a:avLst/>
              <a:gdLst/>
              <a:ahLst/>
              <a:cxnLst/>
              <a:rect r="r" b="b" t="t" l="l"/>
              <a:pathLst>
                <a:path h="38100" w="10560812">
                  <a:moveTo>
                    <a:pt x="0" y="0"/>
                  </a:moveTo>
                  <a:lnTo>
                    <a:pt x="10560812" y="0"/>
                  </a:lnTo>
                  <a:lnTo>
                    <a:pt x="1056081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9912" y="3185522"/>
            <a:ext cx="352633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Many Abrasives Act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912" y="3624415"/>
            <a:ext cx="7920628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Hundreds of diamond grains within the contact ellipse engage the surface simultaneously.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912" y="4527794"/>
            <a:ext cx="207759" cy="31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Saira Light"/>
                <a:ea typeface="Saira Light"/>
                <a:cs typeface="Saira Light"/>
                <a:sym typeface="Saira Light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9912" y="4909547"/>
            <a:ext cx="7920609" cy="28575"/>
            <a:chOff x="0" y="0"/>
            <a:chExt cx="10560812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60812" cy="38100"/>
            </a:xfrm>
            <a:custGeom>
              <a:avLst/>
              <a:gdLst/>
              <a:ahLst/>
              <a:cxnLst/>
              <a:rect r="r" b="b" t="t" l="l"/>
              <a:pathLst>
                <a:path h="38100" w="10560812">
                  <a:moveTo>
                    <a:pt x="0" y="0"/>
                  </a:moveTo>
                  <a:lnTo>
                    <a:pt x="10560812" y="0"/>
                  </a:lnTo>
                  <a:lnTo>
                    <a:pt x="1056081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9912" y="5032477"/>
            <a:ext cx="3648075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Each Grain — Tiny Penetration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912" y="5471370"/>
            <a:ext cx="7920628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Individual grain depth (h) is in the nanometer range. Each cuts a micro-groove in the surface.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912" y="6374759"/>
            <a:ext cx="207759" cy="31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Saira Light"/>
                <a:ea typeface="Saira Light"/>
                <a:cs typeface="Saira Light"/>
                <a:sym typeface="Saira Light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9912" y="6756502"/>
            <a:ext cx="7920609" cy="28575"/>
            <a:chOff x="0" y="0"/>
            <a:chExt cx="10560812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60812" cy="38100"/>
            </a:xfrm>
            <a:custGeom>
              <a:avLst/>
              <a:gdLst/>
              <a:ahLst/>
              <a:cxnLst/>
              <a:rect r="r" b="b" t="t" l="l"/>
              <a:pathLst>
                <a:path h="38100" w="10560812">
                  <a:moveTo>
                    <a:pt x="0" y="0"/>
                  </a:moveTo>
                  <a:lnTo>
                    <a:pt x="10560812" y="0"/>
                  </a:lnTo>
                  <a:lnTo>
                    <a:pt x="1056081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9912" y="6879431"/>
            <a:ext cx="352245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Cumulative Material Removal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9912" y="7318324"/>
            <a:ext cx="7920628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Total MRR = sum of all micro-cuttings. </a:t>
            </a:r>
            <a:r>
              <a:rPr lang="en-US" sz="1625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Low force per grain → no fracture → smooth finish.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9912" y="8297913"/>
            <a:ext cx="7920609" cy="1021461"/>
            <a:chOff x="0" y="0"/>
            <a:chExt cx="10560812" cy="13619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60812" cy="1361948"/>
            </a:xfrm>
            <a:custGeom>
              <a:avLst/>
              <a:gdLst/>
              <a:ahLst/>
              <a:cxnLst/>
              <a:rect r="r" b="b" t="t" l="l"/>
              <a:pathLst>
                <a:path h="1361948" w="10560812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10311384" y="0"/>
                  </a:lnTo>
                  <a:cubicBezTo>
                    <a:pt x="10449178" y="0"/>
                    <a:pt x="10560812" y="111633"/>
                    <a:pt x="10560812" y="249428"/>
                  </a:cubicBezTo>
                  <a:lnTo>
                    <a:pt x="10560812" y="1112520"/>
                  </a:lnTo>
                  <a:cubicBezTo>
                    <a:pt x="10560812" y="1250315"/>
                    <a:pt x="10449178" y="1361948"/>
                    <a:pt x="10311384" y="1361948"/>
                  </a:cubicBezTo>
                  <a:lnTo>
                    <a:pt x="249428" y="1361948"/>
                  </a:lnTo>
                  <a:cubicBezTo>
                    <a:pt x="111633" y="1361821"/>
                    <a:pt x="0" y="1250188"/>
                    <a:pt x="0" y="1112520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7681" y="8585302"/>
            <a:ext cx="259747" cy="207740"/>
            <a:chOff x="0" y="0"/>
            <a:chExt cx="346329" cy="276987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46329" cy="276987"/>
            </a:xfrm>
            <a:custGeom>
              <a:avLst/>
              <a:gdLst/>
              <a:ahLst/>
              <a:cxnLst/>
              <a:rect r="r" b="b" t="t" l="l"/>
              <a:pathLst>
                <a:path h="276987" w="346329">
                  <a:moveTo>
                    <a:pt x="0" y="0"/>
                  </a:moveTo>
                  <a:lnTo>
                    <a:pt x="346329" y="0"/>
                  </a:lnTo>
                  <a:lnTo>
                    <a:pt x="346329" y="276987"/>
                  </a:lnTo>
                  <a:lnTo>
                    <a:pt x="0" y="276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50" r="0" b="-115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645148" y="8425901"/>
            <a:ext cx="7037632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Insight:</a:t>
            </a:r>
            <a:r>
              <a:rPr lang="en-US" sz="16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"Low force per abrasive → ductile deformation → nano-level surface quality"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06976" y="2203847"/>
            <a:ext cx="3893791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Ductile vs. Brittle Removal Mode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397451" y="2728465"/>
            <a:ext cx="7939659" cy="3126486"/>
          </a:xfrm>
          <a:custGeom>
            <a:avLst/>
            <a:gdLst/>
            <a:ahLst/>
            <a:cxnLst/>
            <a:rect r="r" b="b" t="t" l="l"/>
            <a:pathLst>
              <a:path h="3126486" w="7939659">
                <a:moveTo>
                  <a:pt x="0" y="0"/>
                </a:moveTo>
                <a:lnTo>
                  <a:pt x="7939659" y="0"/>
                </a:lnTo>
                <a:lnTo>
                  <a:pt x="7939659" y="3126486"/>
                </a:lnTo>
                <a:lnTo>
                  <a:pt x="0" y="31264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426026" y="2757040"/>
            <a:ext cx="3941254" cy="3069336"/>
            <a:chOff x="0" y="0"/>
            <a:chExt cx="5255006" cy="4092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55006" cy="4092448"/>
            </a:xfrm>
            <a:custGeom>
              <a:avLst/>
              <a:gdLst/>
              <a:ahLst/>
              <a:cxnLst/>
              <a:rect r="r" b="b" t="t" l="l"/>
              <a:pathLst>
                <a:path h="4092448" w="5255006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5005578" y="0"/>
                  </a:lnTo>
                  <a:cubicBezTo>
                    <a:pt x="5143373" y="0"/>
                    <a:pt x="5255006" y="111633"/>
                    <a:pt x="5255006" y="249428"/>
                  </a:cubicBezTo>
                  <a:lnTo>
                    <a:pt x="5255006" y="3843020"/>
                  </a:lnTo>
                  <a:cubicBezTo>
                    <a:pt x="5255006" y="3980815"/>
                    <a:pt x="5143373" y="4092448"/>
                    <a:pt x="5005578" y="4092448"/>
                  </a:cubicBezTo>
                  <a:lnTo>
                    <a:pt x="249428" y="4092448"/>
                  </a:lnTo>
                  <a:cubicBezTo>
                    <a:pt x="111633" y="4092321"/>
                    <a:pt x="0" y="3980688"/>
                    <a:pt x="0" y="3843020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33795" y="2926709"/>
            <a:ext cx="3463823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❌</a:t>
            </a:r>
            <a:r>
              <a:rPr lang="en-US" sz="2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 High Force (Conventional)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3795" y="3365602"/>
            <a:ext cx="3525736" cy="1964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Force per grain exceeds material's fracture toughness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Brittle fracture: cracks, chipping, pitting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Poor surface integrity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Subsurface damage propagates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367299" y="2757040"/>
            <a:ext cx="3941254" cy="3069241"/>
            <a:chOff x="0" y="0"/>
            <a:chExt cx="5255006" cy="40923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55006" cy="4092321"/>
            </a:xfrm>
            <a:custGeom>
              <a:avLst/>
              <a:gdLst/>
              <a:ahLst/>
              <a:cxnLst/>
              <a:rect r="r" b="b" t="t" l="l"/>
              <a:pathLst>
                <a:path h="4092321" w="5255006">
                  <a:moveTo>
                    <a:pt x="0" y="0"/>
                  </a:moveTo>
                  <a:lnTo>
                    <a:pt x="5255006" y="0"/>
                  </a:lnTo>
                  <a:lnTo>
                    <a:pt x="5255006" y="4092321"/>
                  </a:lnTo>
                  <a:lnTo>
                    <a:pt x="0" y="4092321"/>
                  </a:lnTo>
                  <a:close/>
                </a:path>
              </a:pathLst>
            </a:custGeom>
            <a:solidFill>
              <a:srgbClr val="03030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7299" y="2757040"/>
            <a:ext cx="28575" cy="3069241"/>
            <a:chOff x="0" y="0"/>
            <a:chExt cx="38100" cy="40923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" cy="4092321"/>
            </a:xfrm>
            <a:custGeom>
              <a:avLst/>
              <a:gdLst/>
              <a:ahLst/>
              <a:cxnLst/>
              <a:rect r="r" b="b" t="t" l="l"/>
              <a:pathLst>
                <a:path h="409232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073271"/>
                  </a:lnTo>
                  <a:cubicBezTo>
                    <a:pt x="38100" y="4083812"/>
                    <a:pt x="29591" y="4092321"/>
                    <a:pt x="19050" y="4092321"/>
                  </a:cubicBezTo>
                  <a:cubicBezTo>
                    <a:pt x="8509" y="4092321"/>
                    <a:pt x="0" y="4083812"/>
                    <a:pt x="0" y="4073271"/>
                  </a:cubicBezTo>
                  <a:close/>
                </a:path>
              </a:pathLst>
            </a:custGeom>
            <a:solidFill>
              <a:srgbClr val="E2691D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575059" y="2926709"/>
            <a:ext cx="2597944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✅</a:t>
            </a:r>
            <a:r>
              <a:rPr lang="en-US" sz="2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 Low Force (SAG)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575059" y="3365602"/>
            <a:ext cx="3525736" cy="2252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Force per grain stays below critical threshold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Ductile deformation: plastic flow, micro-grooving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Smooth, crack-free surface</a:t>
            </a:r>
          </a:p>
          <a:p>
            <a:pPr algn="l" marL="318592" indent="-106197" lvl="2">
              <a:lnSpc>
                <a:spcPts val="2250"/>
              </a:lnSpc>
              <a:buFont typeface="Arial"/>
              <a:buChar char="⚬"/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Even ceramics behave ductile at nanoscale!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06976" y="5940476"/>
            <a:ext cx="7920628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SAG enables ductile-mode machining even on inherently brittle materials</a:t>
            </a: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— this is its most powerful advantage.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043" y="389782"/>
            <a:ext cx="1022414" cy="133064"/>
            <a:chOff x="0" y="0"/>
            <a:chExt cx="1363218" cy="177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3218" cy="177419"/>
            </a:xfrm>
            <a:custGeom>
              <a:avLst/>
              <a:gdLst/>
              <a:ahLst/>
              <a:cxnLst/>
              <a:rect r="r" b="b" t="t" l="l"/>
              <a:pathLst>
                <a:path h="177419" w="1363218">
                  <a:moveTo>
                    <a:pt x="0" y="88519"/>
                  </a:moveTo>
                  <a:cubicBezTo>
                    <a:pt x="0" y="39624"/>
                    <a:pt x="39624" y="0"/>
                    <a:pt x="88519" y="0"/>
                  </a:cubicBezTo>
                  <a:lnTo>
                    <a:pt x="1274699" y="0"/>
                  </a:lnTo>
                  <a:cubicBezTo>
                    <a:pt x="1323594" y="0"/>
                    <a:pt x="1363218" y="39624"/>
                    <a:pt x="1363218" y="88519"/>
                  </a:cubicBezTo>
                  <a:lnTo>
                    <a:pt x="1363218" y="88900"/>
                  </a:lnTo>
                  <a:cubicBezTo>
                    <a:pt x="1363218" y="137795"/>
                    <a:pt x="1323594" y="177419"/>
                    <a:pt x="1274699" y="177419"/>
                  </a:cubicBezTo>
                  <a:lnTo>
                    <a:pt x="88519" y="177419"/>
                  </a:lnTo>
                  <a:cubicBezTo>
                    <a:pt x="39624" y="177419"/>
                    <a:pt x="0" y="137795"/>
                    <a:pt x="0" y="88900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4" id="4" descr="preencoded.png"/>
          <p:cNvSpPr/>
          <p:nvPr/>
        </p:nvSpPr>
        <p:spPr>
          <a:xfrm flipH="false" flipV="false" rot="0">
            <a:off x="551259" y="419395"/>
            <a:ext cx="73666" cy="73666"/>
          </a:xfrm>
          <a:custGeom>
            <a:avLst/>
            <a:gdLst/>
            <a:ahLst/>
            <a:cxnLst/>
            <a:rect r="r" b="b" t="t" l="l"/>
            <a:pathLst>
              <a:path h="73666" w="73666">
                <a:moveTo>
                  <a:pt x="0" y="0"/>
                </a:moveTo>
                <a:lnTo>
                  <a:pt x="73667" y="0"/>
                </a:lnTo>
                <a:lnTo>
                  <a:pt x="73667" y="73667"/>
                </a:lnTo>
                <a:lnTo>
                  <a:pt x="0" y="73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503" t="0" r="-1249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8771" y="-170736"/>
            <a:ext cx="1996869" cy="17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140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PROCESS PARAMETERS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6043" y="71857"/>
            <a:ext cx="9381344" cy="7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5"/>
              </a:lnSpc>
            </a:pPr>
            <a:r>
              <a:rPr lang="en-US" sz="4515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Process Parameters &amp; Their Effects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074944" y="1072601"/>
            <a:ext cx="138112" cy="138112"/>
          </a:xfrm>
          <a:custGeom>
            <a:avLst/>
            <a:gdLst/>
            <a:ahLst/>
            <a:cxnLst/>
            <a:rect r="r" b="b" t="t" l="l"/>
            <a:pathLst>
              <a:path h="138112" w="138112">
                <a:moveTo>
                  <a:pt x="0" y="0"/>
                </a:moveTo>
                <a:lnTo>
                  <a:pt x="138112" y="0"/>
                </a:lnTo>
                <a:lnTo>
                  <a:pt x="138112" y="138112"/>
                </a:lnTo>
                <a:lnTo>
                  <a:pt x="0" y="138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9074944" y="2110978"/>
            <a:ext cx="138112" cy="138112"/>
          </a:xfrm>
          <a:custGeom>
            <a:avLst/>
            <a:gdLst/>
            <a:ahLst/>
            <a:cxnLst/>
            <a:rect r="r" b="b" t="t" l="l"/>
            <a:pathLst>
              <a:path h="138112" w="138112">
                <a:moveTo>
                  <a:pt x="0" y="0"/>
                </a:moveTo>
                <a:lnTo>
                  <a:pt x="138112" y="0"/>
                </a:lnTo>
                <a:lnTo>
                  <a:pt x="138112" y="138113"/>
                </a:lnTo>
                <a:lnTo>
                  <a:pt x="0" y="138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668" t="0" r="-6662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074944" y="3149356"/>
            <a:ext cx="138112" cy="138112"/>
          </a:xfrm>
          <a:custGeom>
            <a:avLst/>
            <a:gdLst/>
            <a:ahLst/>
            <a:cxnLst/>
            <a:rect r="r" b="b" t="t" l="l"/>
            <a:pathLst>
              <a:path h="138112" w="138112">
                <a:moveTo>
                  <a:pt x="0" y="0"/>
                </a:moveTo>
                <a:lnTo>
                  <a:pt x="138112" y="0"/>
                </a:lnTo>
                <a:lnTo>
                  <a:pt x="138112" y="138112"/>
                </a:lnTo>
                <a:lnTo>
                  <a:pt x="0" y="1381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668" r="0" b="-6662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22" y="980084"/>
            <a:ext cx="95944411" cy="28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Three primary parameters govern SAG performance — understanding their interplay is essential for process design.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1248118"/>
            <a:ext cx="95997046" cy="2291105"/>
          </a:xfrm>
          <a:custGeom>
            <a:avLst/>
            <a:gdLst/>
            <a:ahLst/>
            <a:cxnLst/>
            <a:rect r="r" b="b" t="t" l="l"/>
            <a:pathLst>
              <a:path h="2291105" w="95997046">
                <a:moveTo>
                  <a:pt x="0" y="0"/>
                </a:moveTo>
                <a:lnTo>
                  <a:pt x="95997046" y="0"/>
                </a:lnTo>
                <a:lnTo>
                  <a:pt x="95997046" y="2291105"/>
                </a:lnTo>
                <a:lnTo>
                  <a:pt x="0" y="2291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9258" y="1280265"/>
            <a:ext cx="95838864" cy="622078"/>
            <a:chOff x="0" y="0"/>
            <a:chExt cx="127785152" cy="829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785106" cy="829437"/>
            </a:xfrm>
            <a:custGeom>
              <a:avLst/>
              <a:gdLst/>
              <a:ahLst/>
              <a:cxnLst/>
              <a:rect r="r" b="b" t="t" l="l"/>
              <a:pathLst>
                <a:path h="829437" w="127785106">
                  <a:moveTo>
                    <a:pt x="0" y="214630"/>
                  </a:moveTo>
                  <a:cubicBezTo>
                    <a:pt x="0" y="96012"/>
                    <a:pt x="236728" y="0"/>
                    <a:pt x="529082" y="0"/>
                  </a:cubicBezTo>
                  <a:lnTo>
                    <a:pt x="127256282" y="0"/>
                  </a:lnTo>
                  <a:cubicBezTo>
                    <a:pt x="127548630" y="0"/>
                    <a:pt x="127785106" y="96012"/>
                    <a:pt x="127785106" y="214630"/>
                  </a:cubicBezTo>
                  <a:lnTo>
                    <a:pt x="127785106" y="614807"/>
                  </a:lnTo>
                  <a:cubicBezTo>
                    <a:pt x="127785106" y="733425"/>
                    <a:pt x="127548630" y="829437"/>
                    <a:pt x="127256282" y="829437"/>
                  </a:cubicBezTo>
                  <a:lnTo>
                    <a:pt x="529082" y="829437"/>
                  </a:lnTo>
                  <a:cubicBezTo>
                    <a:pt x="236728" y="829437"/>
                    <a:pt x="0" y="733171"/>
                    <a:pt x="0" y="614807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90302" y="1919583"/>
            <a:ext cx="6389199" cy="40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</a:pPr>
            <a:r>
              <a:rPr lang="en-US" sz="2451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Wheel Speed (N)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302" y="2350332"/>
            <a:ext cx="94816651" cy="28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9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↑ Speed → ↑ Abrasive interactions per second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0302" y="2610250"/>
            <a:ext cx="94816651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More grain passes over surface per unit time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↑ MRR at same contact force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Generates more heat — balance carefully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3585000"/>
            <a:ext cx="95997046" cy="2291105"/>
          </a:xfrm>
          <a:custGeom>
            <a:avLst/>
            <a:gdLst/>
            <a:ahLst/>
            <a:cxnLst/>
            <a:rect r="r" b="b" t="t" l="l"/>
            <a:pathLst>
              <a:path h="2291105" w="95997046">
                <a:moveTo>
                  <a:pt x="0" y="0"/>
                </a:moveTo>
                <a:lnTo>
                  <a:pt x="95997046" y="0"/>
                </a:lnTo>
                <a:lnTo>
                  <a:pt x="95997046" y="2291106"/>
                </a:lnTo>
                <a:lnTo>
                  <a:pt x="0" y="22911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9258" y="3617157"/>
            <a:ext cx="95838864" cy="622078"/>
            <a:chOff x="0" y="0"/>
            <a:chExt cx="127785152" cy="8294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785106" cy="829437"/>
            </a:xfrm>
            <a:custGeom>
              <a:avLst/>
              <a:gdLst/>
              <a:ahLst/>
              <a:cxnLst/>
              <a:rect r="r" b="b" t="t" l="l"/>
              <a:pathLst>
                <a:path h="829437" w="127785106">
                  <a:moveTo>
                    <a:pt x="0" y="214630"/>
                  </a:moveTo>
                  <a:cubicBezTo>
                    <a:pt x="0" y="96012"/>
                    <a:pt x="236728" y="0"/>
                    <a:pt x="529082" y="0"/>
                  </a:cubicBezTo>
                  <a:lnTo>
                    <a:pt x="127256282" y="0"/>
                  </a:lnTo>
                  <a:cubicBezTo>
                    <a:pt x="127548630" y="0"/>
                    <a:pt x="127785106" y="96012"/>
                    <a:pt x="127785106" y="214630"/>
                  </a:cubicBezTo>
                  <a:lnTo>
                    <a:pt x="127785106" y="614807"/>
                  </a:lnTo>
                  <a:cubicBezTo>
                    <a:pt x="127785106" y="733425"/>
                    <a:pt x="127548630" y="829437"/>
                    <a:pt x="127256282" y="829437"/>
                  </a:cubicBezTo>
                  <a:lnTo>
                    <a:pt x="529082" y="829437"/>
                  </a:lnTo>
                  <a:cubicBezTo>
                    <a:pt x="236728" y="829437"/>
                    <a:pt x="0" y="733171"/>
                    <a:pt x="0" y="614807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90302" y="4256456"/>
            <a:ext cx="6795364" cy="40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</a:pPr>
            <a:r>
              <a:rPr lang="en-US" sz="2451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Wheel Compression (T)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0302" y="4687224"/>
            <a:ext cx="94816651" cy="28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9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↑ Compression → ↑ Contact area → ↑ Force &amp; MRR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0302" y="4947142"/>
            <a:ext cx="94816651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Controls how much elastic layer deforms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Larger contact patch = more active grains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Too much compression → risk of brittle damage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5921893"/>
            <a:ext cx="95997046" cy="2291105"/>
          </a:xfrm>
          <a:custGeom>
            <a:avLst/>
            <a:gdLst/>
            <a:ahLst/>
            <a:cxnLst/>
            <a:rect r="r" b="b" t="t" l="l"/>
            <a:pathLst>
              <a:path h="2291105" w="95997046">
                <a:moveTo>
                  <a:pt x="0" y="0"/>
                </a:moveTo>
                <a:lnTo>
                  <a:pt x="95997046" y="0"/>
                </a:lnTo>
                <a:lnTo>
                  <a:pt x="95997046" y="2291105"/>
                </a:lnTo>
                <a:lnTo>
                  <a:pt x="0" y="2291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9258" y="5954049"/>
            <a:ext cx="95838864" cy="622078"/>
            <a:chOff x="0" y="0"/>
            <a:chExt cx="127785152" cy="8294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785106" cy="829437"/>
            </a:xfrm>
            <a:custGeom>
              <a:avLst/>
              <a:gdLst/>
              <a:ahLst/>
              <a:cxnLst/>
              <a:rect r="r" b="b" t="t" l="l"/>
              <a:pathLst>
                <a:path h="829437" w="127785106">
                  <a:moveTo>
                    <a:pt x="0" y="214630"/>
                  </a:moveTo>
                  <a:cubicBezTo>
                    <a:pt x="0" y="96012"/>
                    <a:pt x="236728" y="0"/>
                    <a:pt x="529082" y="0"/>
                  </a:cubicBezTo>
                  <a:lnTo>
                    <a:pt x="127256282" y="0"/>
                  </a:lnTo>
                  <a:cubicBezTo>
                    <a:pt x="127548630" y="0"/>
                    <a:pt x="127785106" y="96012"/>
                    <a:pt x="127785106" y="214630"/>
                  </a:cubicBezTo>
                  <a:lnTo>
                    <a:pt x="127785106" y="614807"/>
                  </a:lnTo>
                  <a:cubicBezTo>
                    <a:pt x="127785106" y="733425"/>
                    <a:pt x="127548630" y="829437"/>
                    <a:pt x="127256282" y="829437"/>
                  </a:cubicBezTo>
                  <a:lnTo>
                    <a:pt x="529082" y="829437"/>
                  </a:lnTo>
                  <a:cubicBezTo>
                    <a:pt x="236728" y="829437"/>
                    <a:pt x="0" y="733171"/>
                    <a:pt x="0" y="614807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90302" y="6593348"/>
            <a:ext cx="6389199" cy="40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</a:pPr>
            <a:r>
              <a:rPr lang="en-US" sz="2451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Abrasive Size (dg)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0302" y="7024097"/>
            <a:ext cx="94816651" cy="28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9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↓ Grain size → ↓ Penetration depth → ↑ Surface quality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302" y="7284006"/>
            <a:ext cx="94816651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Smaller grains = shallower cuts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Finer finish but lower MRR</a:t>
            </a:r>
          </a:p>
          <a:p>
            <a:pPr algn="l" marL="391550" indent="-130517" lvl="2">
              <a:lnSpc>
                <a:spcPts val="2178"/>
              </a:lnSpc>
              <a:buFont typeface="Arial"/>
              <a:buChar char="⚬"/>
            </a:pPr>
            <a:r>
              <a:rPr lang="en-US" sz="199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Chosen based on final Ra target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900589" y="3768681"/>
            <a:ext cx="7973720" cy="6518319"/>
            <a:chOff x="0" y="0"/>
            <a:chExt cx="10631627" cy="86910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31678" cy="8691118"/>
            </a:xfrm>
            <a:custGeom>
              <a:avLst/>
              <a:gdLst/>
              <a:ahLst/>
              <a:cxnLst/>
              <a:rect r="r" b="b" t="t" l="l"/>
              <a:pathLst>
                <a:path h="8691118" w="10631678">
                  <a:moveTo>
                    <a:pt x="0" y="0"/>
                  </a:moveTo>
                  <a:lnTo>
                    <a:pt x="10631678" y="0"/>
                  </a:lnTo>
                  <a:lnTo>
                    <a:pt x="10631678" y="8691118"/>
                  </a:lnTo>
                  <a:lnTo>
                    <a:pt x="0" y="8691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38238"/>
            <a:ext cx="1839373" cy="397288"/>
            <a:chOff x="0" y="0"/>
            <a:chExt cx="2452497" cy="529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2497" cy="529717"/>
            </a:xfrm>
            <a:custGeom>
              <a:avLst/>
              <a:gdLst/>
              <a:ahLst/>
              <a:cxnLst/>
              <a:rect r="r" b="b" t="t" l="l"/>
              <a:pathLst>
                <a:path h="529717" w="2452497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234692" y="0"/>
                  </a:lnTo>
                  <a:cubicBezTo>
                    <a:pt x="2354961" y="0"/>
                    <a:pt x="2452497" y="97536"/>
                    <a:pt x="2452497" y="217805"/>
                  </a:cubicBezTo>
                  <a:lnTo>
                    <a:pt x="2452497" y="311912"/>
                  </a:lnTo>
                  <a:cubicBezTo>
                    <a:pt x="2452497" y="432181"/>
                    <a:pt x="2354961" y="529717"/>
                    <a:pt x="2234692" y="529717"/>
                  </a:cubicBezTo>
                  <a:lnTo>
                    <a:pt x="217805" y="529717"/>
                  </a:lnTo>
                  <a:cubicBezTo>
                    <a:pt x="97536" y="529590"/>
                    <a:pt x="0" y="432181"/>
                    <a:pt x="0" y="311912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28265" y="1246137"/>
            <a:ext cx="181423" cy="181423"/>
          </a:xfrm>
          <a:custGeom>
            <a:avLst/>
            <a:gdLst/>
            <a:ahLst/>
            <a:cxnLst/>
            <a:rect r="r" b="b" t="t" l="l"/>
            <a:pathLst>
              <a:path h="181423" w="181423">
                <a:moveTo>
                  <a:pt x="0" y="0"/>
                </a:moveTo>
                <a:lnTo>
                  <a:pt x="181423" y="0"/>
                </a:lnTo>
                <a:lnTo>
                  <a:pt x="181423" y="181422"/>
                </a:lnTo>
                <a:lnTo>
                  <a:pt x="0" y="181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99" t="0" r="-249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0327" y="1111006"/>
            <a:ext cx="1295248" cy="3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569834"/>
            <a:ext cx="11739715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Key Results &amp; SAG vs. Conventional Grinding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732037"/>
            <a:ext cx="5019380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87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Demonstrated Performance Outcomes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2462" y="3670544"/>
            <a:ext cx="2722064" cy="51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4"/>
              </a:lnSpc>
            </a:pPr>
            <a:r>
              <a:rPr lang="en-US" sz="5874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~20nm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8149" y="4401741"/>
            <a:ext cx="3150841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187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Surface Roughness (Ra)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880372"/>
            <a:ext cx="3402654" cy="107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Nano-level finish achievable on ceramics and hard coatings — impossible with rigid grinding.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61934" y="3670544"/>
            <a:ext cx="2722064" cy="51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4"/>
              </a:lnSpc>
            </a:pPr>
            <a:r>
              <a:rPr lang="en-US" sz="5874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less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5375" y="4401741"/>
            <a:ext cx="2835326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187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Subsurface Cracks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21711" y="4880372"/>
            <a:ext cx="3402654" cy="107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Ductile-mode removal eliminates crack propagation below the surface.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7117" y="6660061"/>
            <a:ext cx="2722064" cy="51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4"/>
              </a:lnSpc>
            </a:pPr>
            <a:r>
              <a:rPr lang="en-US" sz="5874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↓↓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0567" y="7391248"/>
            <a:ext cx="2835326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187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Residual Stress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06903" y="7869879"/>
            <a:ext cx="3402654" cy="107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Distributed low forces drastically reduce thermomechanical stress in the workpiece.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87235" y="2732037"/>
            <a:ext cx="3480645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87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Head-to-Head Comparison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582473" y="3323777"/>
            <a:ext cx="8727472" cy="4297204"/>
          </a:xfrm>
          <a:custGeom>
            <a:avLst/>
            <a:gdLst/>
            <a:ahLst/>
            <a:cxnLst/>
            <a:rect r="r" b="b" t="t" l="l"/>
            <a:pathLst>
              <a:path h="4297204" w="8727472">
                <a:moveTo>
                  <a:pt x="0" y="0"/>
                </a:moveTo>
                <a:lnTo>
                  <a:pt x="8727471" y="0"/>
                </a:lnTo>
                <a:lnTo>
                  <a:pt x="8727471" y="4297204"/>
                </a:lnTo>
                <a:lnTo>
                  <a:pt x="0" y="429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823722" y="3361134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Parameter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73065" y="3361134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Conventional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43662" y="3361134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SAG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23722" y="3924300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Contact Type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73065" y="3924300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Line / Point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3662" y="3924300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Elliptical Area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23722" y="4487466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Force Level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73065" y="4487466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High (concentrated)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43662" y="4487466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Low (distributed)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23722" y="5050631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Surface Finish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73065" y="5050631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Micron-scale Ra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43662" y="5050631"/>
            <a:ext cx="2325138" cy="7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Nano-scale Ra (~20 nm)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23722" y="5940323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Removal Mode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73065" y="5940323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Brittle fracture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43662" y="5940323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Ductile deformation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23722" y="6503489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Complex Shapes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73065" y="6503489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Poor conformity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43662" y="6503489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Excellent conformity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23722" y="7066655"/>
            <a:ext cx="2586190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Subsurface Damage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73065" y="7066655"/>
            <a:ext cx="2407444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Common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43662" y="7066655"/>
            <a:ext cx="232513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749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Eliminated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866015" cy="10287000"/>
            <a:chOff x="0" y="0"/>
            <a:chExt cx="1448802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448803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488033">
                  <a:moveTo>
                    <a:pt x="0" y="0"/>
                  </a:moveTo>
                  <a:lnTo>
                    <a:pt x="14488033" y="0"/>
                  </a:lnTo>
                  <a:lnTo>
                    <a:pt x="1448803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4152" t="0" r="-3415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2238" y="919458"/>
            <a:ext cx="1894332" cy="429578"/>
            <a:chOff x="0" y="0"/>
            <a:chExt cx="2525776" cy="572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5776" cy="572770"/>
            </a:xfrm>
            <a:custGeom>
              <a:avLst/>
              <a:gdLst/>
              <a:ahLst/>
              <a:cxnLst/>
              <a:rect r="r" b="b" t="t" l="l"/>
              <a:pathLst>
                <a:path h="572770" w="2525776">
                  <a:moveTo>
                    <a:pt x="0" y="231394"/>
                  </a:moveTo>
                  <a:cubicBezTo>
                    <a:pt x="0" y="103632"/>
                    <a:pt x="103632" y="0"/>
                    <a:pt x="231394" y="0"/>
                  </a:cubicBezTo>
                  <a:lnTo>
                    <a:pt x="2294382" y="0"/>
                  </a:lnTo>
                  <a:cubicBezTo>
                    <a:pt x="2422144" y="0"/>
                    <a:pt x="2525776" y="103632"/>
                    <a:pt x="2525776" y="231394"/>
                  </a:cubicBezTo>
                  <a:lnTo>
                    <a:pt x="2525776" y="341376"/>
                  </a:lnTo>
                  <a:cubicBezTo>
                    <a:pt x="2525776" y="469138"/>
                    <a:pt x="2422144" y="572770"/>
                    <a:pt x="2294382" y="572770"/>
                  </a:cubicBezTo>
                  <a:lnTo>
                    <a:pt x="231394" y="572770"/>
                  </a:lnTo>
                  <a:cubicBezTo>
                    <a:pt x="103632" y="572643"/>
                    <a:pt x="0" y="469138"/>
                    <a:pt x="0" y="341376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136752" y="1037777"/>
            <a:ext cx="192729" cy="192729"/>
          </a:xfrm>
          <a:custGeom>
            <a:avLst/>
            <a:gdLst/>
            <a:ahLst/>
            <a:cxnLst/>
            <a:rect r="r" b="b" t="t" l="l"/>
            <a:pathLst>
              <a:path h="192729" w="192729">
                <a:moveTo>
                  <a:pt x="0" y="0"/>
                </a:moveTo>
                <a:lnTo>
                  <a:pt x="192728" y="0"/>
                </a:lnTo>
                <a:lnTo>
                  <a:pt x="192728" y="192729"/>
                </a:lnTo>
                <a:lnTo>
                  <a:pt x="0" y="192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82" t="0" r="-2382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120180"/>
            <a:ext cx="361502" cy="361502"/>
          </a:xfrm>
          <a:custGeom>
            <a:avLst/>
            <a:gdLst/>
            <a:ahLst/>
            <a:cxnLst/>
            <a:rect r="r" b="b" t="t" l="l"/>
            <a:pathLst>
              <a:path h="361502" w="361502">
                <a:moveTo>
                  <a:pt x="0" y="0"/>
                </a:moveTo>
                <a:lnTo>
                  <a:pt x="361503" y="0"/>
                </a:lnTo>
                <a:lnTo>
                  <a:pt x="361503" y="361503"/>
                </a:lnTo>
                <a:lnTo>
                  <a:pt x="0" y="361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211" t="0" r="-9208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794942"/>
            <a:ext cx="361502" cy="361502"/>
          </a:xfrm>
          <a:custGeom>
            <a:avLst/>
            <a:gdLst/>
            <a:ahLst/>
            <a:cxnLst/>
            <a:rect r="r" b="b" t="t" l="l"/>
            <a:pathLst>
              <a:path h="361502" w="361502">
                <a:moveTo>
                  <a:pt x="0" y="0"/>
                </a:moveTo>
                <a:lnTo>
                  <a:pt x="361503" y="0"/>
                </a:lnTo>
                <a:lnTo>
                  <a:pt x="361503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92238" y="6469704"/>
            <a:ext cx="361502" cy="361502"/>
          </a:xfrm>
          <a:custGeom>
            <a:avLst/>
            <a:gdLst/>
            <a:ahLst/>
            <a:cxnLst/>
            <a:rect r="r" b="b" t="t" l="l"/>
            <a:pathLst>
              <a:path h="361502" w="361502">
                <a:moveTo>
                  <a:pt x="0" y="0"/>
                </a:moveTo>
                <a:lnTo>
                  <a:pt x="361503" y="0"/>
                </a:lnTo>
                <a:lnTo>
                  <a:pt x="361503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1579" t="0" r="-81577" b="0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8144466"/>
            <a:ext cx="361502" cy="361502"/>
          </a:xfrm>
          <a:custGeom>
            <a:avLst/>
            <a:gdLst/>
            <a:ahLst/>
            <a:cxnLst/>
            <a:rect r="r" b="b" t="t" l="l"/>
            <a:pathLst>
              <a:path h="361502" w="361502">
                <a:moveTo>
                  <a:pt x="0" y="0"/>
                </a:moveTo>
                <a:lnTo>
                  <a:pt x="361503" y="0"/>
                </a:lnTo>
                <a:lnTo>
                  <a:pt x="361503" y="361502"/>
                </a:lnTo>
                <a:lnTo>
                  <a:pt x="0" y="3615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5264" r="0" b="-5261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853347" y="101689"/>
            <a:ext cx="7434653" cy="7244906"/>
            <a:chOff x="0" y="0"/>
            <a:chExt cx="9912871" cy="9659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2858" cy="9659874"/>
            </a:xfrm>
            <a:custGeom>
              <a:avLst/>
              <a:gdLst/>
              <a:ahLst/>
              <a:cxnLst/>
              <a:rect r="r" b="b" t="t" l="l"/>
              <a:pathLst>
                <a:path h="9659874" w="9912858">
                  <a:moveTo>
                    <a:pt x="0" y="0"/>
                  </a:moveTo>
                  <a:lnTo>
                    <a:pt x="9912858" y="0"/>
                  </a:lnTo>
                  <a:lnTo>
                    <a:pt x="9912858" y="9659874"/>
                  </a:lnTo>
                  <a:lnTo>
                    <a:pt x="0" y="9659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53347" y="7050957"/>
            <a:ext cx="7434653" cy="3236043"/>
            <a:chOff x="0" y="0"/>
            <a:chExt cx="9912871" cy="4314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12858" cy="4314698"/>
            </a:xfrm>
            <a:custGeom>
              <a:avLst/>
              <a:gdLst/>
              <a:ahLst/>
              <a:cxnLst/>
              <a:rect r="r" b="b" t="t" l="l"/>
              <a:pathLst>
                <a:path h="4314698" w="9912858">
                  <a:moveTo>
                    <a:pt x="0" y="0"/>
                  </a:moveTo>
                  <a:lnTo>
                    <a:pt x="9912858" y="0"/>
                  </a:lnTo>
                  <a:lnTo>
                    <a:pt x="9912858" y="4314698"/>
                  </a:lnTo>
                  <a:lnTo>
                    <a:pt x="0" y="431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4091" t="0" r="-409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25778" y="896388"/>
            <a:ext cx="1316241" cy="38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APPLICATIONS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1392736"/>
            <a:ext cx="9276159" cy="79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3"/>
              </a:lnSpc>
            </a:pPr>
            <a:r>
              <a:rPr lang="en-US" sz="4686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Where SAG Makes the Difference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2376783"/>
            <a:ext cx="9445523" cy="4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SAG is purpose-built for materials and geometries where conventional grinding fails.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8528" y="3111703"/>
            <a:ext cx="5009998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Aerospace Thermal Barrier Coatings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8528" y="3515763"/>
            <a:ext cx="8879234" cy="8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Finishing WC-Co and ceramic coatings on turbine blades without delamination or cracking.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8528" y="4786465"/>
            <a:ext cx="4435526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Optical &amp; Precision Components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8528" y="5190534"/>
            <a:ext cx="8879234" cy="8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Achieving sub-20 nm Ra on glass, ceramics, and optical crystals for lens and mirror applications.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8528" y="6461227"/>
            <a:ext cx="5631504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Additive Manufacturing Post-Processing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8528" y="6865296"/>
            <a:ext cx="8879234" cy="8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Finishing rough AM surfaces (metal/ceramic) that have complex, freeform geometries.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8528" y="8135988"/>
            <a:ext cx="3799437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Freeform Surfaces &amp; Molds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8528" y="8540058"/>
            <a:ext cx="8879234" cy="8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Conforming to sculptured surfaces in mold &amp; die making where rigid tools leave unground zones.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0303">
                <a:alpha val="3137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4291" y="830018"/>
            <a:ext cx="1624870" cy="472535"/>
            <a:chOff x="0" y="0"/>
            <a:chExt cx="2166493" cy="630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6493" cy="630047"/>
            </a:xfrm>
            <a:custGeom>
              <a:avLst/>
              <a:gdLst/>
              <a:ahLst/>
              <a:cxnLst/>
              <a:rect r="r" b="b" t="t" l="l"/>
              <a:pathLst>
                <a:path h="630047" w="2166493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1917827" y="0"/>
                  </a:lnTo>
                  <a:cubicBezTo>
                    <a:pt x="2055114" y="0"/>
                    <a:pt x="2166493" y="111379"/>
                    <a:pt x="2166493" y="248666"/>
                  </a:cubicBezTo>
                  <a:lnTo>
                    <a:pt x="2166493" y="381381"/>
                  </a:lnTo>
                  <a:cubicBezTo>
                    <a:pt x="2166493" y="518668"/>
                    <a:pt x="2055114" y="630047"/>
                    <a:pt x="1917827" y="630047"/>
                  </a:cubicBezTo>
                  <a:lnTo>
                    <a:pt x="248666" y="630047"/>
                  </a:lnTo>
                  <a:cubicBezTo>
                    <a:pt x="111379" y="630047"/>
                    <a:pt x="0" y="518668"/>
                    <a:pt x="0" y="381381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09662" y="962616"/>
            <a:ext cx="207169" cy="207169"/>
          </a:xfrm>
          <a:custGeom>
            <a:avLst/>
            <a:gdLst/>
            <a:ahLst/>
            <a:cxnLst/>
            <a:rect r="r" b="b" t="t" l="l"/>
            <a:pathLst>
              <a:path h="207169" w="207169">
                <a:moveTo>
                  <a:pt x="0" y="0"/>
                </a:moveTo>
                <a:lnTo>
                  <a:pt x="207169" y="0"/>
                </a:lnTo>
                <a:lnTo>
                  <a:pt x="207169" y="207168"/>
                </a:lnTo>
                <a:lnTo>
                  <a:pt x="0" y="207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726" t="0" r="-2272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0416" y="793404"/>
            <a:ext cx="1003402" cy="43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16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291" y="1359103"/>
            <a:ext cx="6476105" cy="84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1" b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Key Takeaways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291" y="2409082"/>
            <a:ext cx="16379428" cy="54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SAG represents a fundamental shift in thinking about abrasive finishing — </a:t>
            </a:r>
            <a:r>
              <a:rPr lang="en-US" sz="2000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compliance is a feature, not a limitation.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0003" y="3209925"/>
            <a:ext cx="611410" cy="611410"/>
          </a:xfrm>
          <a:custGeom>
            <a:avLst/>
            <a:gdLst/>
            <a:ahLst/>
            <a:cxnLst/>
            <a:rect r="r" b="b" t="t" l="l"/>
            <a:pathLst>
              <a:path h="611410" w="611410">
                <a:moveTo>
                  <a:pt x="0" y="0"/>
                </a:moveTo>
                <a:lnTo>
                  <a:pt x="611410" y="0"/>
                </a:lnTo>
                <a:lnTo>
                  <a:pt x="611410" y="611410"/>
                </a:lnTo>
                <a:lnTo>
                  <a:pt x="0" y="61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51474" y="3387109"/>
            <a:ext cx="388439" cy="3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3736" y="3275114"/>
            <a:ext cx="5095427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99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Compliant Tool = Adaptive 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3736" y="3707606"/>
            <a:ext cx="7222331" cy="134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The elastic layer enables the tool to conform to workpiece geometry, creating distributed elliptical area contact — the foundation of all SAG advantages.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277502" y="3209925"/>
            <a:ext cx="611410" cy="611410"/>
          </a:xfrm>
          <a:custGeom>
            <a:avLst/>
            <a:gdLst/>
            <a:ahLst/>
            <a:cxnLst/>
            <a:rect r="r" b="b" t="t" l="l"/>
            <a:pathLst>
              <a:path h="611410" w="611410">
                <a:moveTo>
                  <a:pt x="0" y="0"/>
                </a:moveTo>
                <a:lnTo>
                  <a:pt x="611410" y="0"/>
                </a:lnTo>
                <a:lnTo>
                  <a:pt x="611410" y="611410"/>
                </a:lnTo>
                <a:lnTo>
                  <a:pt x="0" y="61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88973" y="3387109"/>
            <a:ext cx="388439" cy="3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11235" y="3275114"/>
            <a:ext cx="5372252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99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Low Force per Grain → Ductile Mode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1235" y="3707606"/>
            <a:ext cx="7222484" cy="134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By keeping individual grain forces below the fracture threshold, SAG achieves ductile-mode material removal even on ceramics and hard coatings.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0003" y="5508869"/>
            <a:ext cx="611410" cy="611410"/>
          </a:xfrm>
          <a:custGeom>
            <a:avLst/>
            <a:gdLst/>
            <a:ahLst/>
            <a:cxnLst/>
            <a:rect r="r" b="b" t="t" l="l"/>
            <a:pathLst>
              <a:path h="611410" w="611410">
                <a:moveTo>
                  <a:pt x="0" y="0"/>
                </a:moveTo>
                <a:lnTo>
                  <a:pt x="611410" y="0"/>
                </a:lnTo>
                <a:lnTo>
                  <a:pt x="611410" y="611410"/>
                </a:lnTo>
                <a:lnTo>
                  <a:pt x="0" y="61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51474" y="5686054"/>
            <a:ext cx="388439" cy="3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3736" y="5574059"/>
            <a:ext cx="4117629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99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Nano-Scale Surface Quality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3736" y="6006551"/>
            <a:ext cx="7222331" cy="134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Surface roughness Ra ~20 nm with zero subsurface damage and minimal residual stress — far beyond what rigid grinding can achieve.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277502" y="5508869"/>
            <a:ext cx="611410" cy="611410"/>
          </a:xfrm>
          <a:custGeom>
            <a:avLst/>
            <a:gdLst/>
            <a:ahLst/>
            <a:cxnLst/>
            <a:rect r="r" b="b" t="t" l="l"/>
            <a:pathLst>
              <a:path h="611410" w="611410">
                <a:moveTo>
                  <a:pt x="0" y="0"/>
                </a:moveTo>
                <a:lnTo>
                  <a:pt x="611410" y="0"/>
                </a:lnTo>
                <a:lnTo>
                  <a:pt x="611410" y="611410"/>
                </a:lnTo>
                <a:lnTo>
                  <a:pt x="0" y="61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388973" y="5686054"/>
            <a:ext cx="388439" cy="37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11235" y="5574059"/>
            <a:ext cx="722248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99" b="true">
                <a:solidFill>
                  <a:srgbClr val="E5E0DF"/>
                </a:solidFill>
                <a:latin typeface="Saira Bold"/>
                <a:ea typeface="Saira Bold"/>
                <a:cs typeface="Saira Bold"/>
                <a:sym typeface="Saira Bold"/>
              </a:rPr>
              <a:t>Ideal for Advanced Materials &amp; Complex Geometries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11235" y="6411363"/>
            <a:ext cx="7222484" cy="134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Aerospace coatings, optical components, additive manufacturing, turbine blades — SAG fills the critical gap left by conventional processes.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4291" y="8019755"/>
            <a:ext cx="16379476" cy="1437132"/>
            <a:chOff x="0" y="0"/>
            <a:chExt cx="21839301" cy="19161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839301" cy="1916176"/>
            </a:xfrm>
            <a:custGeom>
              <a:avLst/>
              <a:gdLst/>
              <a:ahLst/>
              <a:cxnLst/>
              <a:rect r="r" b="b" t="t" l="l"/>
              <a:pathLst>
                <a:path h="1916176" w="21839301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1528405" y="0"/>
                  </a:lnTo>
                  <a:cubicBezTo>
                    <a:pt x="21700110" y="0"/>
                    <a:pt x="21839301" y="139192"/>
                    <a:pt x="21839301" y="310896"/>
                  </a:cubicBezTo>
                  <a:lnTo>
                    <a:pt x="21839301" y="1605280"/>
                  </a:lnTo>
                  <a:cubicBezTo>
                    <a:pt x="21839301" y="1776984"/>
                    <a:pt x="21700110" y="1916176"/>
                    <a:pt x="21528405" y="1916176"/>
                  </a:cubicBezTo>
                  <a:lnTo>
                    <a:pt x="310896" y="1916176"/>
                  </a:lnTo>
                  <a:cubicBezTo>
                    <a:pt x="139192" y="1916049"/>
                    <a:pt x="0" y="1776984"/>
                    <a:pt x="0" y="1605280"/>
                  </a:cubicBezTo>
                  <a:close/>
                </a:path>
              </a:pathLst>
            </a:custGeom>
            <a:solidFill>
              <a:srgbClr val="4B1E0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3247" y="8393011"/>
            <a:ext cx="323660" cy="258985"/>
            <a:chOff x="0" y="0"/>
            <a:chExt cx="431546" cy="345313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31546" cy="345313"/>
            </a:xfrm>
            <a:custGeom>
              <a:avLst/>
              <a:gdLst/>
              <a:ahLst/>
              <a:cxnLst/>
              <a:rect r="r" b="b" t="t" l="l"/>
              <a:pathLst>
                <a:path h="345313" w="431546">
                  <a:moveTo>
                    <a:pt x="0" y="0"/>
                  </a:moveTo>
                  <a:lnTo>
                    <a:pt x="431546" y="0"/>
                  </a:lnTo>
                  <a:lnTo>
                    <a:pt x="431546" y="345313"/>
                  </a:lnTo>
                  <a:lnTo>
                    <a:pt x="0" y="345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94" r="0" b="-294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95910" y="8168726"/>
            <a:ext cx="15278843" cy="94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Big Picture: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SAG is not just a better grinder — it is a different </a:t>
            </a:r>
            <a:r>
              <a:rPr lang="en-US" sz="2000" i="true">
                <a:solidFill>
                  <a:srgbClr val="FFFFF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philosophy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of finishing: gentle, distributed, adaptive, and geometry-aware.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DAHNyaC9ODc</dc:identifier>
  <dcterms:modified xsi:type="dcterms:W3CDTF">2011-08-01T06:04:30Z</dcterms:modified>
  <cp:revision>1</cp:revision>
  <dc:title>Shape-Adaptive-Grinding-SAG (1).pptx.pptx</dc:title>
</cp:coreProperties>
</file>